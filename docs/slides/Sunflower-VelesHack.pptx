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5143500" cx="9144000"/>
  <p:notesSz cx="6858000" cy="9144000"/>
  <p:embeddedFontLst>
    <p:embeddedFont>
      <p:font typeface="Roboto"/>
      <p:regular r:id="rId10"/>
      <p:bold r:id="rId11"/>
      <p:italic r:id="rId12"/>
      <p:boldItalic r:id="rId13"/>
    </p:embeddedFont>
    <p:embeddedFont>
      <p:font typeface="Roboto Medium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18" roundtripDataSignature="AMtx7mjpBOD1wnFu5Ox5hv3wUcSwmDxw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Roboto-bold.fntdata"/><Relationship Id="rId10" Type="http://schemas.openxmlformats.org/officeDocument/2006/relationships/font" Target="fonts/Roboto-regular.fntdata"/><Relationship Id="rId13" Type="http://schemas.openxmlformats.org/officeDocument/2006/relationships/font" Target="fonts/Roboto-boldItalic.fntdata"/><Relationship Id="rId12" Type="http://schemas.openxmlformats.org/officeDocument/2006/relationships/font" Target="fonts/Roboto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obotoMedium-bold.fntdata"/><Relationship Id="rId14" Type="http://schemas.openxmlformats.org/officeDocument/2006/relationships/font" Target="fonts/RobotoMedium-regular.fntdata"/><Relationship Id="rId17" Type="http://schemas.openxmlformats.org/officeDocument/2006/relationships/font" Target="fonts/RobotoMedium-boldItalic.fntdata"/><Relationship Id="rId16" Type="http://schemas.openxmlformats.org/officeDocument/2006/relationships/font" Target="fonts/RobotoMedium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customschemas.google.com/relationships/presentationmetadata" Target="meta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h2296137532f5af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h2296137532f5af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h2296137532f5afa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h2296137532f5afa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.png"/><Relationship Id="rId7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" y="0"/>
            <a:ext cx="9155849" cy="515142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6"/>
          <p:cNvSpPr txBox="1"/>
          <p:nvPr>
            <p:ph type="title"/>
          </p:nvPr>
        </p:nvSpPr>
        <p:spPr>
          <a:xfrm>
            <a:off x="464100" y="3098125"/>
            <a:ext cx="6988200" cy="9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2" name="Google Shape;12;p6"/>
          <p:cNvSpPr txBox="1"/>
          <p:nvPr>
            <p:ph idx="1" type="subTitle"/>
          </p:nvPr>
        </p:nvSpPr>
        <p:spPr>
          <a:xfrm>
            <a:off x="464100" y="3794075"/>
            <a:ext cx="75165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2500"/>
              <a:buFont typeface="Roboto Medium"/>
              <a:buNone/>
              <a:defRPr sz="25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9pPr>
          </a:lstStyle>
          <a:p/>
        </p:txBody>
      </p:sp>
      <p:pic>
        <p:nvPicPr>
          <p:cNvPr id="13" name="Google Shape;1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57348" y="1505461"/>
            <a:ext cx="2272593" cy="189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7348" y="187745"/>
            <a:ext cx="2063598" cy="12954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95858" y="4726170"/>
            <a:ext cx="1407814" cy="3128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i="0" sz="2400" u="none" cap="none" strike="noStrike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" name="Google Shape;18;p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 sz="1400"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19" name="Google Shape;19;p7"/>
          <p:cNvPicPr preferRelativeResize="0"/>
          <p:nvPr/>
        </p:nvPicPr>
        <p:blipFill rotWithShape="1">
          <a:blip r:embed="rId2">
            <a:alphaModFix/>
          </a:blip>
          <a:srcRect b="0" l="53583" r="0" t="0"/>
          <a:stretch/>
        </p:blipFill>
        <p:spPr>
          <a:xfrm>
            <a:off x="0" y="394226"/>
            <a:ext cx="311700" cy="67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749797"/>
            <a:ext cx="9144000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7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" name="Google Shape;22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05989" y="4827865"/>
            <a:ext cx="3332021" cy="2782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1700" y="4771154"/>
            <a:ext cx="584516" cy="3459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26412" y="4790989"/>
            <a:ext cx="1446045" cy="3213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8"/>
          <p:cNvPicPr preferRelativeResize="0"/>
          <p:nvPr/>
        </p:nvPicPr>
        <p:blipFill rotWithShape="1">
          <a:blip r:embed="rId2">
            <a:alphaModFix amt="11000"/>
          </a:blip>
          <a:srcRect b="0" l="0" r="0" t="0"/>
          <a:stretch/>
        </p:blipFill>
        <p:spPr>
          <a:xfrm rot="-5400000">
            <a:off x="2158615" y="-2137275"/>
            <a:ext cx="86897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8"/>
          <p:cNvPicPr preferRelativeResize="0"/>
          <p:nvPr/>
        </p:nvPicPr>
        <p:blipFill rotWithShape="1">
          <a:blip r:embed="rId2">
            <a:alphaModFix amt="11000"/>
          </a:blip>
          <a:srcRect b="4935" l="0" r="0" t="17694"/>
          <a:stretch/>
        </p:blipFill>
        <p:spPr>
          <a:xfrm rot="-5400000">
            <a:off x="6719951" y="-1555100"/>
            <a:ext cx="868950" cy="3979151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8"/>
          <p:cNvSpPr/>
          <p:nvPr/>
        </p:nvSpPr>
        <p:spPr>
          <a:xfrm rot="5400000">
            <a:off x="4113300" y="-4111500"/>
            <a:ext cx="917400" cy="9140400"/>
          </a:xfrm>
          <a:prstGeom prst="rect">
            <a:avLst/>
          </a:prstGeom>
          <a:gradFill>
            <a:gsLst>
              <a:gs pos="0">
                <a:schemeClr val="lt1"/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346A"/>
              </a:buClr>
              <a:buSzPts val="2400"/>
              <a:buFont typeface="Roboto"/>
              <a:buNone/>
              <a:defRPr b="1" sz="2400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30" name="Google Shape;30;p8"/>
          <p:cNvPicPr preferRelativeResize="0"/>
          <p:nvPr/>
        </p:nvPicPr>
        <p:blipFill rotWithShape="1">
          <a:blip r:embed="rId3">
            <a:alphaModFix/>
          </a:blip>
          <a:srcRect b="0" l="53583" r="0" t="0"/>
          <a:stretch/>
        </p:blipFill>
        <p:spPr>
          <a:xfrm>
            <a:off x="0" y="394226"/>
            <a:ext cx="311700" cy="67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4749797"/>
            <a:ext cx="9144000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8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3" name="Google Shape;33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905989" y="4827865"/>
            <a:ext cx="3332021" cy="27828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4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26412" y="4790989"/>
            <a:ext cx="1446045" cy="321343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5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11700" y="4771154"/>
            <a:ext cx="584516" cy="3459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" y="0"/>
            <a:ext cx="9155849" cy="5151422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57348" y="1505461"/>
            <a:ext cx="2272593" cy="189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" name="Google Shape;3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7348" y="187745"/>
            <a:ext cx="2063598" cy="1295458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9"/>
          <p:cNvSpPr txBox="1"/>
          <p:nvPr>
            <p:ph type="title"/>
          </p:nvPr>
        </p:nvSpPr>
        <p:spPr>
          <a:xfrm>
            <a:off x="0" y="2220966"/>
            <a:ext cx="9142200" cy="1243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b="0"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9" Type="http://schemas.openxmlformats.org/officeDocument/2006/relationships/image" Target="../media/race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"/>
          <p:cNvSpPr txBox="1"/>
          <p:nvPr>
            <p:ph type="title"/>
          </p:nvPr>
        </p:nvSpPr>
        <p:spPr>
          <a:xfrm>
            <a:off x="464100" y="3098125"/>
            <a:ext cx="6988200" cy="9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</a:pPr>
            <a:r>
              <a:rPr lang="en"/>
              <a:t>Sunflower</a:t>
            </a:r>
            <a:endParaRPr/>
          </a:p>
        </p:txBody>
      </p:sp>
      <p:sp>
        <p:nvSpPr>
          <p:cNvPr id="46" name="Google Shape;46;p1"/>
          <p:cNvSpPr txBox="1"/>
          <p:nvPr>
            <p:ph idx="1" type="subTitle"/>
          </p:nvPr>
        </p:nvSpPr>
        <p:spPr>
          <a:xfrm>
            <a:off x="464100" y="3794075"/>
            <a:ext cx="75165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2500"/>
              <a:buFont typeface="Roboto Medium"/>
              <a:buNone/>
            </a:pPr>
            <a:r>
              <a:rPr lang="en" sz="1500">
                <a:latin typeface="Roboto"/>
                <a:ea typeface="Roboto"/>
                <a:cs typeface="Roboto"/>
                <a:sym typeface="Roboto"/>
              </a:rPr>
              <a:t>Moves a running app to the computer with the cleanest power, without losing a request.</a:t>
            </a:r>
          </a:p>
          <a:p>
            <a:pPr indent="0" marL="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C9D6EA"/>
                </a:solidFill>
                <a:latin typeface="Roboto"/>
                <a:ea typeface="Roboto"/>
                <a:cs typeface="Roboto"/>
                <a:sym typeface="Roboto"/>
              </a:rPr>
              <a:t>Challenge 3, ENACT: Kubernetes Dynamic Adaptation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GitHub repo</a:t>
            </a:r>
            <a:endParaRPr/>
          </a:p>
        </p:txBody>
      </p:sp>
      <p:sp>
        <p:nvSpPr>
          <p:cNvPr id="52" name="Google Shape;52;p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lvl="0" rtl="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" sz="1400" b="1">
                <a:latin typeface="Roboto"/>
                <a:ea typeface="Roboto"/>
                <a:cs typeface="Roboto"/>
                <a:sym typeface="Roboto"/>
              </a:rPr>
              <a:t>GitHub repo: </a:t>
            </a:r>
            <a:r>
              <a:rPr lang="en" sz="14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github.com/kinnuworks/sunflower-enact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Start with the README: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the result, the challenge checklist with a screenshot of every SDK step, and how to run it.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A recorded run you can play in a browser: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docs/demo, drawn from the measured data, unedited.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The raw results: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evidence/ holds the file behind every number we quote.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What we are giving back to ENACT: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docs/field-report.md, 39 findings, each with the fix we used.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>
                <a:latin typeface="Roboto"/>
                <a:ea typeface="Roboto"/>
                <a:cs typeface="Roboto"/>
                <a:sym typeface="Roboto"/>
              </a:rPr>
              <a:t>Licence: Apache-2.0</a:t>
            </a:r>
          </a:p>
        </p:txBody>
      </p:sp>
      <p:sp>
        <p:nvSpPr>
          <p:cNvPr id="53" name="Google Shape;53;p2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2500" lnSpcReduction="1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8108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h2296137532f5afa_0_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59" name="Google Shape;59;h2296137532f5afa_0_0"/>
          <p:cNvSpPr txBox="1"/>
          <p:nvPr>
            <p:ph idx="1" type="body"/>
          </p:nvPr>
        </p:nvSpPr>
        <p:spPr>
          <a:xfrm>
            <a:off x="311700" y="1152475"/>
            <a:ext cx="38300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>
                <a:latin typeface="Roboto"/>
                <a:ea typeface="Roboto"/>
                <a:cs typeface="Roboto"/>
                <a:sym typeface="Roboto"/>
              </a:rPr>
              <a:t>ENACT’s policy operator names the best machine for an app and keeps that answer current as the grid changes.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After deploy day the app does not follow.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The SDK pins it once, so when its machine’s power turns dirty, GreenCharge stays there, below its own 60% rule.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Sunflower is a small controller that reads ENACT’s choice and moves the app to it,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once the change has lasted, without losing a request.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>
                <a:latin typeface="Roboto"/>
                <a:ea typeface="Roboto"/>
                <a:cs typeface="Roboto"/>
                <a:sym typeface="Roboto"/>
              </a:rPr>
              <a:t>We completed the challenge checklist in the ENACT SDK first, then built Sunflower on top.</a:t>
            </a:r>
          </a:p>
        </p:txBody>
      </p:sp>
      <p:sp>
        <p:nvSpPr>
          <p:cNvPr id="60" name="Google Shape;60;h2296137532f5afa_0_0"/>
          <p:cNvSpPr txBox="1"/>
          <p:nvPr>
            <p:ph idx="12" type="sldNum"/>
          </p:nvPr>
        </p:nvSpPr>
        <p:spPr>
          <a:xfrm>
            <a:off x="8472458" y="4789959"/>
            <a:ext cx="548700" cy="31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2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81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01" name="Race screen" descr="Two copies of GreenCharge over one replayed day of grid data: the standard build stays on Machine A, the copy with Sunflower moves to Machine B.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52000" y="1235000"/>
            <a:ext cx="4480000" cy="2488888"/>
          </a:xfrm>
          <a:prstGeom prst="rect">
            <a:avLst/>
          </a:prstGeom>
          <a:ln w="9525">
            <a:solidFill>
              <a:srgbClr val="2A2017"/>
            </a:solidFill>
          </a:ln>
        </p:spPr>
      </p:pic>
      <p:sp>
        <p:nvSpPr>
          <p:cNvPr id="202" name="Caption"/>
          <p:cNvSpPr txBox="1"/>
          <p:nvPr/>
        </p:nvSpPr>
        <p:spPr>
          <a:xfrm>
            <a:off x="4352000" y="3793888"/>
            <a:ext cx="448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One real run on the challenge cluster. Left: the standard build, 48 s on dirty power. Right: with Sunflower, 12 s. Each was sent 507 requests and lost none.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h2296137532f5afa_0_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Highlights</a:t>
            </a:r>
            <a:endParaRPr/>
          </a:p>
        </p:txBody>
      </p:sp>
      <p:sp>
        <p:nvSpPr>
          <p:cNvPr id="66" name="Google Shape;66;h2296137532f5afa_0_6"/>
          <p:cNvSpPr txBox="1"/>
          <p:nvPr>
            <p:ph idx="1" type="body"/>
          </p:nvPr>
        </p:nvSpPr>
        <p:spPr>
          <a:xfrm>
            <a:off x="311700" y="2560000"/>
            <a:ext cx="8520600" cy="20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Where the 12 s go: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8 s is a deliberate wait to be sure the drop is real (a setting), and 3.5 s is the move. Both copies answer every request throughout.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Checklist done in the ENACT SDK: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policy model, Application Controller extension (14 tests), policy, packaging, deployment and monitoring, plus one step with the SDK’s assistant. The repo has a screenshot of every step.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ENACT stays in charge: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Sunflower reads the policy’s chosen machine and has no ranking of its own. It waits out short dips, ignores near-ties, limits how often it moves, and undoes a move that fails.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Still open: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the dataspace step, which needs connector details we have asked the mentors for. We make no carbon-saving claim. We report time on dirty power, which we measured.</a:t>
            </a:r>
          </a:p>
        </p:txBody>
      </p:sp>
      <p:sp>
        <p:nvSpPr>
          <p:cNvPr id="67" name="Google Shape;67;h2296137532f5afa_0_6"/>
          <p:cNvSpPr txBox="1"/>
          <p:nvPr>
            <p:ph idx="12" type="sldNum"/>
          </p:nvPr>
        </p:nvSpPr>
        <p:spPr>
          <a:xfrm>
            <a:off x="8472458" y="4789959"/>
            <a:ext cx="548700" cy="31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2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81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0" name="Stat 1"/>
          <p:cNvSpPr txBox="1"/>
          <p:nvPr/>
        </p:nvSpPr>
        <p:spPr>
          <a:xfrm>
            <a:off x="311700" y="1180000"/>
            <a:ext cx="2700000" cy="1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0</a:t>
            </a:r>
          </a:p>
          <a:p>
            <a:pPr indent="0" marL="0" lv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400" b="1">
                <a:solidFill>
                  <a:srgbClr val="2A2017"/>
                </a:solidFill>
                <a:latin typeface="Roboto"/>
                <a:ea typeface="Roboto"/>
                <a:cs typeface="Roboto"/>
                <a:sym typeface="Roboto"/>
              </a:rPr>
              <a:t>requests lost</a:t>
            </a:r>
          </a:p>
          <a:p>
            <a:pPr indent="0" marL="0" lv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across 30 moves in a row, 1,777 requests, on the challenge cluster</a:t>
            </a:r>
          </a:p>
        </p:txBody>
      </p:sp>
      <p:sp>
        <p:nvSpPr>
          <p:cNvPr id="211" name="Stat 2"/>
          <p:cNvSpPr txBox="1"/>
          <p:nvPr/>
        </p:nvSpPr>
        <p:spPr>
          <a:xfrm>
            <a:off x="3222000" y="1180000"/>
            <a:ext cx="2700000" cy="1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48 → 12 s</a:t>
            </a:r>
          </a:p>
          <a:p>
            <a:pPr indent="0" marL="0" lv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400" b="1">
                <a:solidFill>
                  <a:srgbClr val="2A2017"/>
                </a:solidFill>
                <a:latin typeface="Roboto"/>
                <a:ea typeface="Roboto"/>
                <a:cs typeface="Roboto"/>
                <a:sym typeface="Roboto"/>
              </a:rPr>
              <a:t>on dirty power</a:t>
            </a:r>
          </a:p>
          <a:p>
            <a:pPr indent="0" marL="0" lv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standard build against Sunflower, over a real day of British grid data: 6 hours against 1.5</a:t>
            </a:r>
          </a:p>
        </p:txBody>
      </p:sp>
      <p:sp>
        <p:nvSpPr>
          <p:cNvPr id="212" name="Stat 3"/>
          <p:cNvSpPr txBox="1"/>
          <p:nvPr/>
        </p:nvSpPr>
        <p:spPr>
          <a:xfrm>
            <a:off x="6132300" y="1180000"/>
            <a:ext cx="2700000" cy="1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39</a:t>
            </a:r>
          </a:p>
          <a:p>
            <a:pPr indent="0" marL="0" lv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400" b="1">
                <a:solidFill>
                  <a:srgbClr val="2A2017"/>
                </a:solidFill>
                <a:latin typeface="Roboto"/>
                <a:ea typeface="Roboto"/>
                <a:cs typeface="Roboto"/>
                <a:sym typeface="Roboto"/>
              </a:rPr>
              <a:t>findings given back</a:t>
            </a:r>
          </a:p>
          <a:p>
            <a:pPr indent="0" marL="0" lv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problems we hit in ENACT, each written up with the fix we used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Anastasios Zafeiropoulos</dc:creator>
</cp:coreProperties>
</file>